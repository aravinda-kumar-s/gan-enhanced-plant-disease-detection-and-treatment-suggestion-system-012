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95" r:id="rId2"/>
    <p:sldId id="298" r:id="rId3"/>
    <p:sldId id="277" r:id="rId4"/>
    <p:sldId id="259" r:id="rId5"/>
    <p:sldId id="299" r:id="rId6"/>
    <p:sldId id="261" r:id="rId7"/>
    <p:sldId id="292" r:id="rId8"/>
    <p:sldId id="278" r:id="rId9"/>
    <p:sldId id="260" r:id="rId10"/>
    <p:sldId id="282" r:id="rId11"/>
    <p:sldId id="283" r:id="rId12"/>
    <p:sldId id="257" r:id="rId13"/>
    <p:sldId id="300" r:id="rId14"/>
    <p:sldId id="263" r:id="rId15"/>
    <p:sldId id="286" r:id="rId16"/>
    <p:sldId id="296" r:id="rId17"/>
    <p:sldId id="264" r:id="rId18"/>
    <p:sldId id="289" r:id="rId19"/>
    <p:sldId id="291" r:id="rId20"/>
    <p:sldId id="266" r:id="rId21"/>
    <p:sldId id="297" r:id="rId22"/>
    <p:sldId id="26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99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0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6292B-A6AE-4141-B193-8E0D2A6137A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D883-DBAC-41D5-B5CE-987A3792C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14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ce56258882b5d0c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ce56258882b5d0c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ce56258882b5d0c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ce56258882b5d0c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ce56258882b5d0c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ce56258882b5d0c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FD883-DBAC-41D5-B5CE-987A3792C4C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248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6B835-5699-2E68-A9EC-EF9A7DDD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CB84F-CD20-8B01-1DB9-B23BC8BD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68" y="1116923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dirty="0"/>
              <a:t>GAN-Enhanced Plant Disease Detection and Treatment                   Suggestion System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6F5C-5294-0A4B-EDBB-E801C68E6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3017" y="4397340"/>
            <a:ext cx="3770617" cy="1453794"/>
          </a:xfrm>
        </p:spPr>
        <p:txBody>
          <a:bodyPr>
            <a:normAutofit fontScale="85000" lnSpcReduction="20000"/>
          </a:bodyPr>
          <a:lstStyle/>
          <a:p>
            <a:pPr marL="0" indent="0" algn="ctr" defTabSz="257175">
              <a:buNone/>
              <a:defRPr/>
            </a:pPr>
            <a:r>
              <a:rPr lang="en-US" sz="2000" b="1" u="sng" dirty="0">
                <a:solidFill>
                  <a:prstClr val="black"/>
                </a:solidFill>
              </a:rPr>
              <a:t>PROJECT SUPERVISOR</a:t>
            </a:r>
          </a:p>
          <a:p>
            <a:pPr algn="ctr" defTabSz="257175">
              <a:defRPr/>
            </a:pPr>
            <a:endParaRPr lang="en-US" sz="2000" b="1" u="sng" dirty="0">
              <a:solidFill>
                <a:prstClr val="black"/>
              </a:solidFill>
            </a:endParaRPr>
          </a:p>
          <a:p>
            <a:pPr marL="0" indent="0" algn="ctr" defTabSz="257175">
              <a:buNone/>
              <a:defRPr/>
            </a:pPr>
            <a:r>
              <a:rPr lang="en-US" sz="2000" b="1" dirty="0">
                <a:solidFill>
                  <a:prstClr val="black"/>
                </a:solidFill>
              </a:rPr>
              <a:t>MS.R.DIVYABHARATHI M.E</a:t>
            </a:r>
          </a:p>
          <a:p>
            <a:pPr marL="0" indent="0" algn="ctr" defTabSz="257175">
              <a:buNone/>
              <a:defRPr/>
            </a:pPr>
            <a:r>
              <a:rPr lang="en-US" sz="2000" b="1" dirty="0">
                <a:solidFill>
                  <a:prstClr val="black"/>
                </a:solidFill>
              </a:rPr>
              <a:t>ASSISTANT PROFESSOR</a:t>
            </a:r>
          </a:p>
          <a:p>
            <a:pPr marL="0" indent="0" algn="ctr" defTabSz="257175">
              <a:buNone/>
              <a:defRPr/>
            </a:pPr>
            <a:r>
              <a:rPr lang="en-US" sz="2000" b="1" dirty="0">
                <a:solidFill>
                  <a:prstClr val="black"/>
                </a:solidFill>
              </a:rPr>
              <a:t>DEPARTMENT OF AI&amp;DS</a:t>
            </a:r>
          </a:p>
          <a:p>
            <a:endParaRPr lang="en-IN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D322D2-4653-9430-C2F2-A8CE3624F02B}"/>
              </a:ext>
            </a:extLst>
          </p:cNvPr>
          <p:cNvSpPr txBox="1">
            <a:spLocks/>
          </p:cNvSpPr>
          <p:nvPr/>
        </p:nvSpPr>
        <p:spPr>
          <a:xfrm>
            <a:off x="5486402" y="4500082"/>
            <a:ext cx="4232953" cy="10274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257175"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prstClr val="black"/>
                </a:solidFill>
              </a:rPr>
              <a:t>         </a:t>
            </a:r>
            <a:r>
              <a:rPr lang="en-US" sz="2400" b="1" u="sng" dirty="0">
                <a:solidFill>
                  <a:prstClr val="black"/>
                </a:solidFill>
              </a:rPr>
              <a:t>Presented by </a:t>
            </a:r>
          </a:p>
          <a:p>
            <a:pPr defTabSz="257175">
              <a:spcBef>
                <a:spcPts val="0"/>
              </a:spcBef>
              <a:defRPr/>
            </a:pPr>
            <a:endParaRPr lang="en-US" sz="2000" b="1" u="sng" dirty="0">
              <a:solidFill>
                <a:prstClr val="black"/>
              </a:solidFill>
            </a:endParaRPr>
          </a:p>
          <a:p>
            <a:pPr marL="0" indent="0" defTabSz="257175"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prstClr val="black"/>
                </a:solidFill>
              </a:rPr>
              <a:t>ARAVINDAKUMAR S-8208E22ASR012</a:t>
            </a:r>
          </a:p>
          <a:p>
            <a:pPr marL="0" indent="0" defTabSz="257175">
              <a:spcBef>
                <a:spcPts val="0"/>
              </a:spcBef>
              <a:buNone/>
              <a:defRPr/>
            </a:pPr>
            <a:r>
              <a:rPr lang="en-US" sz="2000" b="1" dirty="0">
                <a:solidFill>
                  <a:prstClr val="black"/>
                </a:solidFill>
              </a:rPr>
              <a:t>SUTHARSHANARAM R-8208E22ASR059</a:t>
            </a:r>
            <a:endParaRPr lang="en-IN" sz="2000" b="1" dirty="0">
              <a:solidFill>
                <a:prstClr val="black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8BCBD9-55F3-DB5D-9540-B0103D145F40}"/>
              </a:ext>
            </a:extLst>
          </p:cNvPr>
          <p:cNvSpPr txBox="1">
            <a:spLocks/>
          </p:cNvSpPr>
          <p:nvPr/>
        </p:nvSpPr>
        <p:spPr>
          <a:xfrm>
            <a:off x="7130267" y="249150"/>
            <a:ext cx="2589088" cy="652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257175">
              <a:spcBef>
                <a:spcPts val="0"/>
              </a:spcBef>
              <a:buNone/>
              <a:defRPr/>
            </a:pPr>
            <a:r>
              <a:rPr lang="en-US" sz="1800" b="1" dirty="0">
                <a:solidFill>
                  <a:prstClr val="black"/>
                </a:solidFill>
              </a:rPr>
              <a:t>         BATCH:19</a:t>
            </a:r>
            <a:endParaRPr lang="en-IN" sz="1800" b="1" dirty="0">
              <a:solidFill>
                <a:prstClr val="black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E1A27D-DF57-FBCE-0574-3A438E9D3A32}"/>
              </a:ext>
            </a:extLst>
          </p:cNvPr>
          <p:cNvSpPr txBox="1">
            <a:spLocks/>
          </p:cNvSpPr>
          <p:nvPr/>
        </p:nvSpPr>
        <p:spPr>
          <a:xfrm>
            <a:off x="2547991" y="6344292"/>
            <a:ext cx="4232953" cy="1027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257175">
              <a:spcBef>
                <a:spcPts val="0"/>
              </a:spcBef>
              <a:buNone/>
              <a:defRPr/>
            </a:pPr>
            <a:r>
              <a:rPr lang="en-US" sz="1800" b="1" dirty="0">
                <a:solidFill>
                  <a:prstClr val="black"/>
                </a:solidFill>
              </a:rPr>
              <a:t>         1904AS851-PROJECT WORK</a:t>
            </a:r>
            <a:endParaRPr lang="en-IN" sz="1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84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5709-8EDA-9FFD-200B-06E9656E3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A917-2D15-D1F6-BEBA-7E29EAA2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413C8-F9EC-159F-39F8-04E7DA7AA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0295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/>
              <a:t>Problem statement</a:t>
            </a:r>
          </a:p>
          <a:p>
            <a:pPr algn="just"/>
            <a:r>
              <a:rPr lang="en-US" sz="1800" dirty="0"/>
              <a:t>Farmers face crop losses due to </a:t>
            </a:r>
            <a:r>
              <a:rPr lang="en-US" sz="1800" b="1" dirty="0"/>
              <a:t>late or incorrect disease detection</a:t>
            </a:r>
            <a:r>
              <a:rPr lang="en-US" sz="1800" dirty="0"/>
              <a:t>.</a:t>
            </a:r>
          </a:p>
          <a:p>
            <a:pPr algn="just"/>
            <a:r>
              <a:rPr lang="en-US" sz="1800" b="1" dirty="0"/>
              <a:t>Lack of access</a:t>
            </a:r>
            <a:r>
              <a:rPr lang="en-US" sz="1800" dirty="0"/>
              <a:t> to agricultural experts in rural areas.</a:t>
            </a:r>
          </a:p>
          <a:p>
            <a:pPr algn="just"/>
            <a:r>
              <a:rPr lang="en-US" sz="1800" dirty="0"/>
              <a:t>Poor-quality images from mobile devices reduce accuracy.</a:t>
            </a:r>
          </a:p>
          <a:p>
            <a:pPr algn="just"/>
            <a:r>
              <a:rPr lang="en-US" sz="1800" dirty="0"/>
              <a:t>Current systems </a:t>
            </a:r>
            <a:r>
              <a:rPr lang="en-US" sz="1800" b="1" dirty="0"/>
              <a:t>do not give preventive care suggestions</a:t>
            </a:r>
            <a:r>
              <a:rPr lang="en-US" sz="1800" dirty="0"/>
              <a:t>.</a:t>
            </a:r>
          </a:p>
          <a:p>
            <a:pPr marL="0" indent="0" algn="just">
              <a:buNone/>
            </a:pPr>
            <a:r>
              <a:rPr lang="en-US" sz="1800" b="1" dirty="0"/>
              <a:t>Domain Relevance</a:t>
            </a:r>
          </a:p>
          <a:p>
            <a:pPr algn="just"/>
            <a:r>
              <a:rPr lang="en-US" sz="1800" dirty="0"/>
              <a:t>Falls under </a:t>
            </a:r>
            <a:r>
              <a:rPr lang="en-US" sz="1800" b="1" dirty="0"/>
              <a:t>Artificial Intelligence in Agriculture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/>
              <a:t>Uses </a:t>
            </a:r>
            <a:r>
              <a:rPr lang="en-US" sz="1800" b="1" dirty="0"/>
              <a:t>Computer Vision</a:t>
            </a:r>
            <a:r>
              <a:rPr lang="en-US" sz="1800" dirty="0"/>
              <a:t> for plant disease detection.</a:t>
            </a:r>
          </a:p>
          <a:p>
            <a:pPr algn="just"/>
            <a:r>
              <a:rPr lang="en-US" sz="1800" dirty="0"/>
              <a:t>Applies </a:t>
            </a:r>
            <a:r>
              <a:rPr lang="en-US" sz="1800" b="1" dirty="0"/>
              <a:t>GANs</a:t>
            </a:r>
            <a:r>
              <a:rPr lang="en-US" sz="1800" dirty="0"/>
              <a:t> to improve image clarity.</a:t>
            </a:r>
          </a:p>
          <a:p>
            <a:pPr algn="just"/>
            <a:r>
              <a:rPr lang="en-US" sz="1800" dirty="0"/>
              <a:t>Deployed with </a:t>
            </a:r>
            <a:r>
              <a:rPr lang="en-US" sz="1800" b="1" dirty="0"/>
              <a:t>Web page</a:t>
            </a:r>
            <a:r>
              <a:rPr lang="en-US" sz="1800" dirty="0"/>
              <a:t> for easy farmer access.</a:t>
            </a:r>
          </a:p>
          <a:p>
            <a:pPr marL="0" indent="0">
              <a:buNone/>
            </a:pPr>
            <a:r>
              <a:rPr lang="en-US" sz="1800" b="1" dirty="0"/>
              <a:t>Scope of the Problem</a:t>
            </a:r>
          </a:p>
          <a:p>
            <a:r>
              <a:rPr lang="en-US" sz="1800" dirty="0"/>
              <a:t>Detect multiple diseases from </a:t>
            </a:r>
            <a:r>
              <a:rPr lang="en-US" sz="1800" b="1" dirty="0"/>
              <a:t>different crops</a:t>
            </a:r>
            <a:r>
              <a:rPr lang="en-US" sz="1800" dirty="0"/>
              <a:t>.</a:t>
            </a:r>
          </a:p>
          <a:p>
            <a:r>
              <a:rPr lang="en-US" sz="1800" dirty="0"/>
              <a:t>Work in </a:t>
            </a:r>
            <a:r>
              <a:rPr lang="en-US" sz="1800" b="1" dirty="0"/>
              <a:t>real-time</a:t>
            </a:r>
            <a:r>
              <a:rPr lang="en-US" sz="1800" dirty="0"/>
              <a:t> for instant results.</a:t>
            </a:r>
          </a:p>
          <a:p>
            <a:r>
              <a:rPr lang="en-US" sz="1800" dirty="0"/>
              <a:t>Extendable for </a:t>
            </a:r>
            <a:r>
              <a:rPr lang="en-US" sz="1800" b="1" dirty="0"/>
              <a:t>future disease risk prediction</a:t>
            </a:r>
            <a:r>
              <a:rPr lang="en-US" sz="1800" dirty="0"/>
              <a:t>.</a:t>
            </a:r>
          </a:p>
          <a:p>
            <a:r>
              <a:rPr lang="en-US" sz="1800" dirty="0"/>
              <a:t>Beneficial for </a:t>
            </a:r>
            <a:r>
              <a:rPr lang="en-US" sz="1800" b="1" dirty="0"/>
              <a:t>farmers, </a:t>
            </a:r>
            <a:r>
              <a:rPr lang="en-US" sz="1800" b="1" dirty="0" err="1"/>
              <a:t>agri</a:t>
            </a:r>
            <a:r>
              <a:rPr lang="en-US" sz="1800" b="1" dirty="0"/>
              <a:t> scientists.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marL="0" indent="0" algn="just"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46815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DECA-4AA2-630B-D1CC-D5EE1A8D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BA28-AEE3-5442-7137-53B2FB5D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BAC12-327B-6A48-BD3E-350CA13BE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1. Enhance Leaf Images</a:t>
            </a:r>
          </a:p>
          <a:p>
            <a:r>
              <a:rPr lang="en-US" sz="1800" dirty="0"/>
              <a:t>Improve low-quality plant leaf images using GAN for better analysis.</a:t>
            </a:r>
          </a:p>
          <a:p>
            <a:pPr marL="0" indent="0">
              <a:buNone/>
            </a:pPr>
            <a:r>
              <a:rPr lang="en-US" sz="1800" b="1" dirty="0"/>
              <a:t>2. Detect Plant Diseases</a:t>
            </a:r>
          </a:p>
          <a:p>
            <a:r>
              <a:rPr lang="en-US" sz="1800" dirty="0"/>
              <a:t>Classify plant diseases accurately using the </a:t>
            </a:r>
            <a:r>
              <a:rPr lang="en-US" sz="1800" dirty="0" err="1"/>
              <a:t>EfficientNet</a:t>
            </a:r>
            <a:r>
              <a:rPr lang="en-US" sz="1800" dirty="0"/>
              <a:t> model.</a:t>
            </a:r>
          </a:p>
          <a:p>
            <a:pPr marL="0" indent="0">
              <a:buNone/>
            </a:pPr>
            <a:r>
              <a:rPr lang="en-US" sz="1800" b="1" dirty="0"/>
              <a:t>3. Provide Explainable Results</a:t>
            </a:r>
          </a:p>
          <a:p>
            <a:r>
              <a:rPr lang="en-US" sz="1800" dirty="0"/>
              <a:t>Use Grad-CAM to highlight infected regions in the leaf image.</a:t>
            </a:r>
          </a:p>
          <a:p>
            <a:pPr marL="0" indent="0">
              <a:buNone/>
            </a:pPr>
            <a:r>
              <a:rPr lang="en-US" sz="1800" b="1" dirty="0"/>
              <a:t>4. Suggest Treatments</a:t>
            </a:r>
          </a:p>
          <a:p>
            <a:r>
              <a:rPr lang="en-US" sz="1800" dirty="0"/>
              <a:t>Recommend suitable organic and chemical treatments for detected diseases.</a:t>
            </a:r>
          </a:p>
          <a:p>
            <a:pPr marL="0" indent="0">
              <a:buNone/>
            </a:pPr>
            <a:r>
              <a:rPr lang="en-US" sz="1800" b="1" dirty="0"/>
              <a:t>5. Use Weather Information</a:t>
            </a:r>
          </a:p>
          <a:p>
            <a:r>
              <a:rPr lang="en-US" sz="1800" dirty="0"/>
              <a:t>Analyze weather conditions before giving treatment advice.</a:t>
            </a:r>
          </a:p>
          <a:p>
            <a:pPr marL="0" indent="0">
              <a:buNone/>
            </a:pPr>
            <a:r>
              <a:rPr lang="en-US" sz="1800" b="1" dirty="0"/>
              <a:t>6. Build Web Application</a:t>
            </a:r>
          </a:p>
          <a:p>
            <a:r>
              <a:rPr lang="en-US" sz="1800" dirty="0"/>
              <a:t>Develop a simple web interface for real-time disease detection.</a:t>
            </a:r>
          </a:p>
          <a:p>
            <a:pPr marL="0" indent="0">
              <a:buNone/>
            </a:pPr>
            <a:r>
              <a:rPr lang="en-US" sz="1800" b="1" dirty="0"/>
              <a:t>7. Improve Farmer Support</a:t>
            </a:r>
          </a:p>
          <a:p>
            <a:r>
              <a:rPr lang="en-US" sz="1800" dirty="0"/>
              <a:t>Help farmers identify diseases quickly and take preventive action.</a:t>
            </a:r>
          </a:p>
          <a:p>
            <a:pPr algn="just">
              <a:buFont typeface="Arial" pitchFamily="34" charset="0"/>
              <a:buChar char="•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443388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Gap</a:t>
            </a:r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BFEE99F-FB7F-3C85-A217-17891B48FCA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1. Poor Performance on Images</a:t>
            </a:r>
          </a:p>
          <a:p>
            <a:r>
              <a:rPr lang="en-US" sz="1800" dirty="0"/>
              <a:t>Existing models fail on low-quality and field images.</a:t>
            </a:r>
          </a:p>
          <a:p>
            <a:pPr marL="0" indent="0">
              <a:buNone/>
            </a:pPr>
            <a:r>
              <a:rPr lang="en-US" sz="1800" b="1" dirty="0"/>
              <a:t>2. Lack of Image Enhancement</a:t>
            </a:r>
          </a:p>
          <a:p>
            <a:r>
              <a:rPr lang="en-US" sz="1800" dirty="0"/>
              <a:t>Most systems do not improve image quality before classification.</a:t>
            </a:r>
          </a:p>
          <a:p>
            <a:pPr marL="0" indent="0">
              <a:buNone/>
            </a:pPr>
            <a:r>
              <a:rPr lang="en-US" sz="1800" b="1" dirty="0"/>
              <a:t>3. No Explainability</a:t>
            </a:r>
          </a:p>
          <a:p>
            <a:r>
              <a:rPr lang="en-US" sz="1800" dirty="0"/>
              <a:t>Models give results without showing how the decision is made.</a:t>
            </a:r>
          </a:p>
          <a:p>
            <a:pPr marL="0" indent="0">
              <a:buNone/>
            </a:pPr>
            <a:r>
              <a:rPr lang="en-US" sz="1800" b="1" dirty="0"/>
              <a:t>4. No Treatment Guidance</a:t>
            </a:r>
          </a:p>
          <a:p>
            <a:r>
              <a:rPr lang="en-US" sz="1800" dirty="0"/>
              <a:t>Existing solutions only detect disease, no remedy suggestions.</a:t>
            </a:r>
          </a:p>
          <a:p>
            <a:pPr marL="0" indent="0">
              <a:buNone/>
            </a:pPr>
            <a:r>
              <a:rPr lang="en-US" sz="1800" b="1" dirty="0"/>
              <a:t>5. No Weather Integration</a:t>
            </a:r>
          </a:p>
          <a:p>
            <a:r>
              <a:rPr lang="en-US" sz="1800" dirty="0"/>
              <a:t>Treatment advice is not based on real-time weather conditions.</a:t>
            </a:r>
          </a:p>
          <a:p>
            <a:pPr marL="0" indent="0">
              <a:buNone/>
            </a:pPr>
            <a:r>
              <a:rPr lang="en-US" sz="1800" b="1" dirty="0"/>
              <a:t>6. Separate Approaches</a:t>
            </a:r>
          </a:p>
          <a:p>
            <a:r>
              <a:rPr lang="en-US" sz="1800" dirty="0"/>
              <a:t>Enhancement, classification, and advisory are not combined.</a:t>
            </a:r>
          </a:p>
          <a:p>
            <a:pPr marL="0" indent="0">
              <a:buNone/>
            </a:pPr>
            <a:r>
              <a:rPr lang="en-US" sz="1800" b="1" dirty="0"/>
              <a:t>7. Limited Practical Usage</a:t>
            </a:r>
          </a:p>
          <a:p>
            <a:r>
              <a:rPr lang="en-US" sz="1800" dirty="0"/>
              <a:t>Systems are not designed for real-time farmer usage.</a:t>
            </a:r>
          </a:p>
          <a:p>
            <a:pPr algn="just">
              <a:buFont typeface="Arial" pitchFamily="34" charset="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Existing work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AD8039-9D53-BA29-3C04-3072C7174266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1. Traditional Machine Learning</a:t>
            </a:r>
          </a:p>
          <a:p>
            <a:r>
              <a:rPr lang="en-US" sz="1800" dirty="0"/>
              <a:t>Uses SVM, KNN, Random Forest for disease detection with limited accuracy.</a:t>
            </a:r>
          </a:p>
          <a:p>
            <a:pPr marL="0" indent="0">
              <a:buNone/>
            </a:pPr>
            <a:r>
              <a:rPr lang="en-US" sz="1800" b="1" dirty="0"/>
              <a:t>2. CNN-Based Models</a:t>
            </a:r>
          </a:p>
          <a:p>
            <a:r>
              <a:rPr lang="en-US" sz="1800" dirty="0"/>
              <a:t>Deep learning models classify diseases but require high-quality images.</a:t>
            </a:r>
          </a:p>
          <a:p>
            <a:pPr marL="0" indent="0">
              <a:buNone/>
            </a:pPr>
            <a:r>
              <a:rPr lang="en-US" sz="1800" b="1" dirty="0"/>
              <a:t>3. Transfer Learning Models</a:t>
            </a:r>
          </a:p>
          <a:p>
            <a:r>
              <a:rPr lang="en-US" sz="1800" dirty="0"/>
              <a:t>Pretrained models like </a:t>
            </a:r>
            <a:r>
              <a:rPr lang="en-US" sz="1800" dirty="0" err="1"/>
              <a:t>MobileNet</a:t>
            </a:r>
            <a:r>
              <a:rPr lang="en-US" sz="1800" dirty="0"/>
              <a:t> improve accuracy but lack robustness.</a:t>
            </a:r>
          </a:p>
          <a:p>
            <a:pPr marL="0" indent="0">
              <a:buNone/>
            </a:pPr>
            <a:r>
              <a:rPr lang="en-US" sz="1800" b="1" dirty="0"/>
              <a:t>4. Image Augmentation Techniques</a:t>
            </a:r>
          </a:p>
          <a:p>
            <a:r>
              <a:rPr lang="en-US" sz="1800" dirty="0"/>
              <a:t>Used to increase dataset size, but not effective for real-time image quality issues.</a:t>
            </a:r>
          </a:p>
          <a:p>
            <a:pPr marL="0" indent="0">
              <a:buNone/>
            </a:pPr>
            <a:r>
              <a:rPr lang="en-US" sz="1800" b="1" dirty="0"/>
              <a:t>5. Basic Advisory Systems</a:t>
            </a:r>
          </a:p>
          <a:p>
            <a:r>
              <a:rPr lang="en-US" sz="1800" dirty="0"/>
              <a:t>Some systems provide general treatment suggestions without personalization</a:t>
            </a:r>
          </a:p>
          <a:p>
            <a:pPr algn="just">
              <a:buFont typeface="Arial" pitchFamily="34" charset="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work</a:t>
            </a:r>
            <a:endParaRPr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70245F8-67E4-AB0F-87C6-B27E133409A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1. GAN-Based Image Enhancement</a:t>
            </a:r>
          </a:p>
          <a:p>
            <a:r>
              <a:rPr lang="en-US" sz="1800" dirty="0"/>
              <a:t>Enhance low-quality leaf images before classification for better accuracy.</a:t>
            </a:r>
          </a:p>
          <a:p>
            <a:pPr marL="0" indent="0">
              <a:buNone/>
            </a:pPr>
            <a:r>
              <a:rPr lang="en-US" sz="1800" b="1" dirty="0"/>
              <a:t>2. </a:t>
            </a:r>
            <a:r>
              <a:rPr lang="en-US" sz="1800" b="1" dirty="0" err="1"/>
              <a:t>EfficientNet</a:t>
            </a:r>
            <a:r>
              <a:rPr lang="en-US" sz="1800" b="1" dirty="0"/>
              <a:t> Disease Classification</a:t>
            </a:r>
          </a:p>
          <a:p>
            <a:r>
              <a:rPr lang="en-US" sz="1800" dirty="0"/>
              <a:t>Use EfficientNet-B3 model to detect multiple plant diseases.</a:t>
            </a:r>
          </a:p>
          <a:p>
            <a:pPr marL="0" indent="0">
              <a:buNone/>
            </a:pPr>
            <a:r>
              <a:rPr lang="en-US" sz="1800" b="1" dirty="0"/>
              <a:t>3. Explainable AI Integration</a:t>
            </a:r>
          </a:p>
          <a:p>
            <a:r>
              <a:rPr lang="en-US" sz="1800" dirty="0"/>
              <a:t>Apply Grad-CAM to highlight affected regions in leaf images.</a:t>
            </a:r>
          </a:p>
          <a:p>
            <a:pPr marL="0" indent="0">
              <a:buNone/>
            </a:pPr>
            <a:r>
              <a:rPr lang="en-US" sz="1800" b="1" dirty="0"/>
              <a:t>4. Treatment Recommendation System</a:t>
            </a:r>
          </a:p>
          <a:p>
            <a:r>
              <a:rPr lang="en-US" sz="1800" dirty="0"/>
              <a:t>Provide disease-specific remedies with dosage and precautions.</a:t>
            </a:r>
          </a:p>
          <a:p>
            <a:pPr marL="0" indent="0">
              <a:buNone/>
            </a:pPr>
            <a:r>
              <a:rPr lang="en-US" sz="1800" b="1" dirty="0"/>
              <a:t>5. Weather-Based Advisory</a:t>
            </a:r>
          </a:p>
          <a:p>
            <a:r>
              <a:rPr lang="en-US" sz="1800" dirty="0"/>
              <a:t>Use real-time weather data to guide treatment application.</a:t>
            </a:r>
          </a:p>
          <a:p>
            <a:pPr marL="0" indent="0">
              <a:buNone/>
            </a:pPr>
            <a:r>
              <a:rPr lang="en-US" sz="1800" b="1" dirty="0"/>
              <a:t>6. End-to-End Integrated System</a:t>
            </a:r>
          </a:p>
          <a:p>
            <a:r>
              <a:rPr lang="en-US" sz="1800" dirty="0"/>
              <a:t>Combine enhancement, detection, explanation, and advisory in one pipeline.</a:t>
            </a:r>
          </a:p>
          <a:p>
            <a:pPr marL="0" indent="0">
              <a:buNone/>
            </a:pPr>
            <a:r>
              <a:rPr lang="en-US" sz="1800" b="1" dirty="0"/>
              <a:t>7. Real-Time Web Application</a:t>
            </a:r>
          </a:p>
          <a:p>
            <a:r>
              <a:rPr lang="en-US" sz="1800" dirty="0"/>
              <a:t>Develop a user-friendly interface for instant disease prediction</a:t>
            </a:r>
          </a:p>
          <a:p>
            <a:pPr algn="just">
              <a:buFont typeface="Arial" pitchFamily="34" charset="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271" y="323973"/>
            <a:ext cx="7628165" cy="631371"/>
          </a:xfrm>
        </p:spPr>
        <p:txBody>
          <a:bodyPr>
            <a:normAutofit fontScale="90000"/>
          </a:bodyPr>
          <a:lstStyle/>
          <a:p>
            <a:r>
              <a:rPr dirty="0"/>
              <a:t>Literature Review</a:t>
            </a:r>
          </a:p>
          <a:p>
            <a:endParaRPr sz="1400" b="1" dirty="0">
              <a:latin typeface="+mn-lt"/>
              <a:ea typeface="+mn-ea"/>
              <a:cs typeface="+mn-cs"/>
            </a:endParaRPr>
          </a:p>
          <a:p>
            <a:r>
              <a:rPr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1946C3-033D-B6D8-13A7-076281A8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478820"/>
              </p:ext>
            </p:extLst>
          </p:nvPr>
        </p:nvGraphicFramePr>
        <p:xfrm>
          <a:off x="218364" y="554355"/>
          <a:ext cx="8576314" cy="6169577"/>
        </p:xfrm>
        <a:graphic>
          <a:graphicData uri="http://schemas.openxmlformats.org/drawingml/2006/table">
            <a:tbl>
              <a:tblPr/>
              <a:tblGrid>
                <a:gridCol w="1868298">
                  <a:extLst>
                    <a:ext uri="{9D8B030D-6E8A-4147-A177-3AD203B41FA5}">
                      <a16:colId xmlns:a16="http://schemas.microsoft.com/office/drawing/2014/main" val="2632398530"/>
                    </a:ext>
                  </a:extLst>
                </a:gridCol>
                <a:gridCol w="1748092">
                  <a:extLst>
                    <a:ext uri="{9D8B030D-6E8A-4147-A177-3AD203B41FA5}">
                      <a16:colId xmlns:a16="http://schemas.microsoft.com/office/drawing/2014/main" val="1862996424"/>
                    </a:ext>
                  </a:extLst>
                </a:gridCol>
                <a:gridCol w="1281717">
                  <a:extLst>
                    <a:ext uri="{9D8B030D-6E8A-4147-A177-3AD203B41FA5}">
                      <a16:colId xmlns:a16="http://schemas.microsoft.com/office/drawing/2014/main" val="29660311"/>
                    </a:ext>
                  </a:extLst>
                </a:gridCol>
                <a:gridCol w="2001203">
                  <a:extLst>
                    <a:ext uri="{9D8B030D-6E8A-4147-A177-3AD203B41FA5}">
                      <a16:colId xmlns:a16="http://schemas.microsoft.com/office/drawing/2014/main" val="1532407144"/>
                    </a:ext>
                  </a:extLst>
                </a:gridCol>
                <a:gridCol w="1677004">
                  <a:extLst>
                    <a:ext uri="{9D8B030D-6E8A-4147-A177-3AD203B41FA5}">
                      <a16:colId xmlns:a16="http://schemas.microsoft.com/office/drawing/2014/main" val="1474831545"/>
                    </a:ext>
                  </a:extLst>
                </a:gridCol>
              </a:tblGrid>
              <a:tr h="708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Title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Author &amp; Year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 Used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Idea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 / Challenge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743027"/>
                  </a:ext>
                </a:extLst>
              </a:tr>
              <a:tr h="1346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Plant Leaf Disease Detection Using Machine Learning Techniques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K. Sudha Rani, B. Priya Madhuri (2024)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SVM,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 plant diseases using traditional ML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accuracy, limited dataset, no real-time capability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991334"/>
                  </a:ext>
                </a:extLst>
              </a:tr>
              <a:tr h="136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 Based Plant Diseases Monitoring and Detection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R. Jeevanantham  (2024)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deep learning for disease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computation, requires large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880732"/>
                  </a:ext>
                </a:extLst>
              </a:tr>
              <a:tr h="1106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Plant Disease Detection Using EfficientNet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Sharma  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EfficientNet, Transfer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 accuracy using advanced CNN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Poor performance on low-quality field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02067"/>
                  </a:ext>
                </a:extLst>
              </a:tr>
              <a:tr h="136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Evaluation of Lightweight DL Models for Plant Disease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Duhan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 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MobileNet</a:t>
                      </a:r>
                      <a:r>
                        <a:rPr lang="en-IN" dirty="0"/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Designed lightweight models for mobile-based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Trade-off between accuracy and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5269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5FAE-F842-61F9-AEAF-EBA8AA34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1562-FBD1-FD20-A0C1-97A6C11A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975F-0EF3-3035-44DD-7C7804159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Dataset Collection</a:t>
            </a:r>
            <a:endParaRPr lang="en-US" sz="1800" dirty="0"/>
          </a:p>
          <a:p>
            <a:r>
              <a:rPr lang="en-US" sz="1800" dirty="0"/>
              <a:t>Source: </a:t>
            </a:r>
            <a:r>
              <a:rPr lang="en-US" sz="1800" dirty="0" err="1"/>
              <a:t>Kaggle</a:t>
            </a:r>
            <a:r>
              <a:rPr lang="en-US" sz="1800" dirty="0"/>
              <a:t> – New Plant Diseases Dataset</a:t>
            </a:r>
          </a:p>
          <a:p>
            <a:r>
              <a:rPr lang="en-US" sz="1800" dirty="0"/>
              <a:t>87,000 images of healthy and diseased leaves</a:t>
            </a:r>
          </a:p>
          <a:p>
            <a:r>
              <a:rPr lang="en-US" sz="1800" dirty="0"/>
              <a:t>38 classes of crops and diseases</a:t>
            </a:r>
          </a:p>
          <a:p>
            <a:pPr marL="0" indent="0">
              <a:buNone/>
            </a:pPr>
            <a:r>
              <a:rPr lang="en-US" sz="1800" b="1" dirty="0"/>
              <a:t>Features</a:t>
            </a:r>
            <a:endParaRPr lang="en-US" sz="1800" dirty="0"/>
          </a:p>
          <a:p>
            <a:r>
              <a:rPr lang="en-US" sz="1800" dirty="0"/>
              <a:t>Leaf image pixels</a:t>
            </a:r>
          </a:p>
          <a:p>
            <a:r>
              <a:rPr lang="en-US" sz="1800" dirty="0"/>
              <a:t>Disease labels (e.g., Healthy, Blight, Rust)</a:t>
            </a:r>
          </a:p>
          <a:p>
            <a:r>
              <a:rPr lang="en-US" sz="1800" dirty="0"/>
              <a:t>Crop types (e.g., Tomato, Grape, Potato)</a:t>
            </a:r>
          </a:p>
          <a:p>
            <a:pPr marL="0" indent="0">
              <a:buNone/>
            </a:pPr>
            <a:r>
              <a:rPr lang="en-US" sz="1800" b="1" dirty="0"/>
              <a:t>Domain Relevance</a:t>
            </a:r>
            <a:endParaRPr lang="en-US" sz="1800" dirty="0"/>
          </a:p>
          <a:p>
            <a:r>
              <a:rPr lang="en-US" sz="1800" dirty="0"/>
              <a:t>Focus on agriculture and crop health</a:t>
            </a:r>
          </a:p>
          <a:p>
            <a:r>
              <a:rPr lang="en-US" sz="1800" dirty="0"/>
              <a:t>Reflects real farmer challenges</a:t>
            </a:r>
          </a:p>
          <a:p>
            <a:pPr marL="0" indent="0">
              <a:buNone/>
            </a:pPr>
            <a:r>
              <a:rPr lang="en-US" sz="1800" b="1" dirty="0"/>
              <a:t>Dataset Quality</a:t>
            </a:r>
            <a:endParaRPr lang="en-US" sz="1800" dirty="0"/>
          </a:p>
          <a:p>
            <a:r>
              <a:rPr lang="en-US" sz="1800" dirty="0"/>
              <a:t>High-resolution, well-labeled images</a:t>
            </a:r>
          </a:p>
          <a:p>
            <a:r>
              <a:rPr lang="en-US" sz="1800" dirty="0"/>
              <a:t>Balanced classes using augmentation</a:t>
            </a:r>
          </a:p>
          <a:p>
            <a:pPr marL="0" indent="0" algn="just"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87576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Image Processing:</a:t>
            </a:r>
            <a:endParaRPr lang="en-IN" sz="1800" dirty="0"/>
          </a:p>
          <a:p>
            <a:r>
              <a:rPr lang="en-IN" sz="1800" dirty="0"/>
              <a:t>Resizing → uniform size (e.g., 256×256).</a:t>
            </a:r>
          </a:p>
          <a:p>
            <a:r>
              <a:rPr lang="en-IN" sz="1800" dirty="0"/>
              <a:t>Normalization → scale pixel values (0–1).</a:t>
            </a:r>
          </a:p>
          <a:p>
            <a:r>
              <a:rPr lang="en-IN" sz="1800" dirty="0"/>
              <a:t>Augmentation → rotation, flipping, zoom, brightness change.</a:t>
            </a:r>
          </a:p>
          <a:p>
            <a:r>
              <a:rPr lang="en-IN" sz="1800" dirty="0"/>
              <a:t>Noise Removal → improve image clarity.</a:t>
            </a:r>
          </a:p>
          <a:p>
            <a:r>
              <a:rPr lang="en-IN" sz="1800" dirty="0"/>
              <a:t>Splitting → Train, Validation, Test sets.</a:t>
            </a:r>
          </a:p>
          <a:p>
            <a:pPr marL="0" indent="0">
              <a:buNone/>
            </a:pPr>
            <a:r>
              <a:rPr lang="en-IN" sz="1800" dirty="0"/>
              <a:t>.</a:t>
            </a:r>
          </a:p>
          <a:p>
            <a:pPr marL="0" indent="0">
              <a:buNone/>
            </a:pPr>
            <a:r>
              <a:rPr lang="en-IN" sz="1800" b="1" dirty="0"/>
              <a:t> Libraries Used:</a:t>
            </a:r>
            <a:endParaRPr lang="en-IN" sz="1800" dirty="0"/>
          </a:p>
          <a:p>
            <a:r>
              <a:rPr lang="en-IN" sz="1800" dirty="0"/>
              <a:t>Pandas (data handling)</a:t>
            </a:r>
          </a:p>
          <a:p>
            <a:r>
              <a:rPr lang="en-IN" sz="1800" dirty="0" err="1"/>
              <a:t>NumPy</a:t>
            </a:r>
            <a:r>
              <a:rPr lang="en-IN" sz="1800" dirty="0"/>
              <a:t> (numerical operations)</a:t>
            </a:r>
          </a:p>
          <a:p>
            <a:r>
              <a:rPr lang="en-IN" sz="1800" dirty="0" err="1"/>
              <a:t>OpenCV</a:t>
            </a:r>
            <a:r>
              <a:rPr lang="en-IN" sz="1800" dirty="0"/>
              <a:t> (image processing)</a:t>
            </a:r>
          </a:p>
          <a:p>
            <a:r>
              <a:rPr lang="en-IN" sz="1800" dirty="0" err="1"/>
              <a:t>TensorFlow</a:t>
            </a:r>
            <a:r>
              <a:rPr lang="en-IN" sz="1800" dirty="0"/>
              <a:t> / </a:t>
            </a:r>
            <a:r>
              <a:rPr lang="en-IN" sz="1800" dirty="0" err="1"/>
              <a:t>PyTorch</a:t>
            </a:r>
            <a:r>
              <a:rPr lang="en-IN" sz="1800" dirty="0"/>
              <a:t> (model training)</a:t>
            </a:r>
          </a:p>
          <a:p>
            <a:r>
              <a:rPr lang="en-IN" sz="1800" dirty="0"/>
              <a:t>Matplotlib (visualization)</a:t>
            </a:r>
          </a:p>
          <a:p>
            <a:pPr marL="0" indent="0" algn="just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BC3C6-2939-AAB7-6EFF-6CD3A8DC1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A941-B79F-74FF-4A48-7DB6B523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379EE9-8583-F349-1106-413A63A641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7457" y="1810565"/>
            <a:ext cx="8349343" cy="2973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1. Visual Features</a:t>
            </a:r>
          </a:p>
          <a:p>
            <a:r>
              <a:rPr lang="en-US" sz="1800" dirty="0"/>
              <a:t>Extracts color, texture, and disease patterns from leaf images.</a:t>
            </a:r>
          </a:p>
          <a:p>
            <a:pPr marL="0" indent="0">
              <a:buNone/>
            </a:pPr>
            <a:r>
              <a:rPr lang="en-US" sz="1800" b="1" dirty="0"/>
              <a:t>2. GAN Enhancement</a:t>
            </a:r>
          </a:p>
          <a:p>
            <a:r>
              <a:rPr lang="en-US" sz="1800" dirty="0"/>
              <a:t>Improves image clarity, edges, and contrast for better feature quality.</a:t>
            </a:r>
          </a:p>
          <a:p>
            <a:pPr marL="0" indent="0">
              <a:buNone/>
            </a:pPr>
            <a:r>
              <a:rPr lang="en-US" sz="1800" b="1" dirty="0"/>
              <a:t>3. Deep Feature Learning</a:t>
            </a:r>
          </a:p>
          <a:p>
            <a:r>
              <a:rPr lang="en-US" sz="1800" dirty="0" err="1"/>
              <a:t>EfficientNet</a:t>
            </a:r>
            <a:r>
              <a:rPr lang="en-US" sz="1800" dirty="0"/>
              <a:t> automatically learns important features from images.</a:t>
            </a:r>
          </a:p>
          <a:p>
            <a:pPr marL="0" indent="0">
              <a:buNone/>
            </a:pPr>
            <a:r>
              <a:rPr lang="en-US" sz="1800" b="1" dirty="0"/>
              <a:t>4. Justification</a:t>
            </a:r>
          </a:p>
          <a:p>
            <a:r>
              <a:rPr lang="en-US" sz="1800" dirty="0"/>
              <a:t>Better image quality + deep features → higher classification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29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782C1-D277-9A21-BF1B-482BF9B1B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2578-D103-A57D-C0F8-FCE34528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14B4B-1375-C932-F5AE-61BD9D95F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17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 Algorithms Used</a:t>
            </a:r>
          </a:p>
          <a:p>
            <a:r>
              <a:rPr lang="en-IN" sz="1800" dirty="0"/>
              <a:t>GAN for image enhancement, </a:t>
            </a:r>
            <a:r>
              <a:rPr lang="en-IN" sz="1800" dirty="0" err="1"/>
              <a:t>EfficientNet</a:t>
            </a:r>
            <a:r>
              <a:rPr lang="en-IN" sz="1800" dirty="0"/>
              <a:t>  for classification, Grad-CAM for explainability</a:t>
            </a:r>
          </a:p>
          <a:p>
            <a:pPr marL="0" indent="0">
              <a:buNone/>
            </a:pPr>
            <a:r>
              <a:rPr lang="en-IN" sz="1800" b="1" dirty="0"/>
              <a:t> Model Choice Justification</a:t>
            </a:r>
          </a:p>
          <a:p>
            <a:r>
              <a:rPr lang="en-IN" sz="1800" dirty="0"/>
              <a:t>GAN improves low-quality images </a:t>
            </a:r>
          </a:p>
          <a:p>
            <a:r>
              <a:rPr lang="en-IN" sz="1800" dirty="0" err="1"/>
              <a:t>EfficientNet</a:t>
            </a:r>
            <a:r>
              <a:rPr lang="en-IN" sz="1800" dirty="0"/>
              <a:t> gives high accuracy with fewer parameters </a:t>
            </a:r>
          </a:p>
          <a:p>
            <a:r>
              <a:rPr lang="en-IN" sz="1800" dirty="0"/>
              <a:t>Grad-CAM provides transparent and interpretable results</a:t>
            </a:r>
          </a:p>
          <a:p>
            <a:pPr marL="0" indent="0" algn="just">
              <a:buNone/>
            </a:pPr>
            <a:r>
              <a:rPr lang="en-US" sz="1800" b="1" dirty="0"/>
              <a:t>Architecture Diagram </a:t>
            </a:r>
            <a:endParaRPr lang="en-US" sz="1800" dirty="0"/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Input: Leaf image from smartphone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Preprocessing: Resize (256×256), normalize, augment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GAN Module: Enhances low-quality images (noise removal, clarity boost)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Classifier: EfficientNet-B3 predicts disease (38 classes)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Explainability: Grad-CAM highlights infected regions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Advisory Module: Suggests treatment (organic + chemical + dosage)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Weather Integration: Uses real-time weather for safe spraying 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800" dirty="0"/>
              <a:t>Output: Disease name + confidence + treatment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1980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F97A-6455-700B-A541-D5E94B8A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b="1" dirty="0"/>
              <a:t>Architecture Diagram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731E3-FBBE-3843-CB0C-FE992FEDA6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881" y="1417637"/>
            <a:ext cx="4336060" cy="486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9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C28E-12BA-28EB-B6DE-E0F424B8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73DB-1324-3417-BFBA-C8243D28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b="1" dirty="0"/>
              <a:t>Architecture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18422-4E58-BD4B-91EE-7DE03F696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99"/>
          <a:stretch>
            <a:fillRect/>
          </a:stretch>
        </p:blipFill>
        <p:spPr>
          <a:xfrm>
            <a:off x="2286000" y="1470593"/>
            <a:ext cx="4572000" cy="511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62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800" b="1" dirty="0"/>
              <a:t>Tools Used</a:t>
            </a:r>
          </a:p>
          <a:p>
            <a:pPr algn="just"/>
            <a:r>
              <a:rPr lang="en-IN" sz="1800" dirty="0"/>
              <a:t>Python (3.7+)</a:t>
            </a:r>
          </a:p>
          <a:p>
            <a:pPr algn="just"/>
            <a:r>
              <a:rPr lang="en-IN" sz="1800" dirty="0"/>
              <a:t>Google </a:t>
            </a:r>
            <a:r>
              <a:rPr lang="en-IN" sz="1800" dirty="0" err="1"/>
              <a:t>Colab</a:t>
            </a:r>
            <a:r>
              <a:rPr lang="en-IN" sz="1800" dirty="0"/>
              <a:t> </a:t>
            </a:r>
          </a:p>
          <a:p>
            <a:pPr algn="just"/>
            <a:r>
              <a:rPr lang="en-IN" sz="1800" dirty="0" err="1"/>
              <a:t>Streamlit</a:t>
            </a:r>
            <a:endParaRPr lang="en-IN" sz="1800" dirty="0"/>
          </a:p>
          <a:p>
            <a:pPr algn="just"/>
            <a:r>
              <a:rPr lang="en-IN" sz="1800" dirty="0"/>
              <a:t>OpenCV </a:t>
            </a:r>
          </a:p>
          <a:p>
            <a:pPr algn="just"/>
            <a:r>
              <a:rPr lang="en-IN" sz="1800" b="1" dirty="0"/>
              <a:t>Challenges Faced:</a:t>
            </a:r>
            <a:endParaRPr lang="en-IN" sz="1800" dirty="0"/>
          </a:p>
          <a:p>
            <a:r>
              <a:rPr lang="en-IN" sz="1800" dirty="0"/>
              <a:t>Dataset imbalance affecting accuracy</a:t>
            </a:r>
          </a:p>
          <a:p>
            <a:r>
              <a:rPr lang="en-IN" sz="1800" dirty="0"/>
              <a:t>Long training time for large </a:t>
            </a:r>
            <a:r>
              <a:rPr lang="en-IN" sz="1800" dirty="0" err="1"/>
              <a:t>efficientNet</a:t>
            </a:r>
            <a:r>
              <a:rPr lang="en-IN" sz="1800" dirty="0"/>
              <a:t> models</a:t>
            </a:r>
          </a:p>
          <a:p>
            <a:r>
              <a:rPr lang="en-IN" sz="1800" dirty="0"/>
              <a:t>GAN fine-tuning for realistic synthetic images</a:t>
            </a:r>
          </a:p>
          <a:p>
            <a:r>
              <a:rPr lang="en-IN" sz="1800" dirty="0"/>
              <a:t>Variations in image quality due to lighting and backgrounds</a:t>
            </a:r>
          </a:p>
          <a:p>
            <a:pPr marL="0" indent="0" algn="just">
              <a:buNone/>
            </a:pPr>
            <a:endParaRPr lang="en-IN" sz="1800" dirty="0"/>
          </a:p>
          <a:p>
            <a:pPr algn="just"/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F7410-5C33-B665-6C95-ADE4E809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4F1F-4474-EC62-2F66-A7A84B51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A7CA-6F61-17B6-12CC-1C4F2D585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b="1" dirty="0"/>
              <a:t>Code Snippets / Screenshots</a:t>
            </a:r>
          </a:p>
          <a:p>
            <a:pPr marL="0" indent="0" algn="just">
              <a:buNone/>
            </a:pP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32B2EE-C0BC-A20D-474D-840D1FD68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6" y="2119107"/>
            <a:ext cx="8725348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98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15FA0-A91B-F50C-2FD8-DBBEEEB9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56D9-C999-BA87-CB5C-363B77F01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682"/>
            <a:ext cx="8229600" cy="1143000"/>
          </a:xfrm>
        </p:spPr>
        <p:txBody>
          <a:bodyPr/>
          <a:lstStyle/>
          <a:p>
            <a:r>
              <a:rPr dirty="0"/>
              <a:t>Evaluation &amp;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607B1-129D-D4A7-521B-323D60B1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Initial Performance:</a:t>
            </a:r>
            <a:endParaRPr lang="en-IN" sz="1800" dirty="0"/>
          </a:p>
          <a:p>
            <a:r>
              <a:rPr lang="en-IN" sz="1800" dirty="0"/>
              <a:t>Accuracy: </a:t>
            </a:r>
            <a:r>
              <a:rPr lang="en-IN" sz="1800" b="1" dirty="0"/>
              <a:t>84.2%</a:t>
            </a:r>
            <a:r>
              <a:rPr lang="en-IN" sz="1800" dirty="0"/>
              <a:t> </a:t>
            </a:r>
          </a:p>
          <a:p>
            <a:r>
              <a:rPr lang="en-IN" sz="1800" dirty="0"/>
              <a:t>F1-Score: </a:t>
            </a:r>
            <a:r>
              <a:rPr lang="en-IN" sz="1800" b="1" dirty="0"/>
              <a:t>0.83</a:t>
            </a:r>
            <a:r>
              <a:rPr lang="en-IN" sz="1800" dirty="0"/>
              <a:t> </a:t>
            </a:r>
          </a:p>
          <a:p>
            <a:r>
              <a:rPr lang="en-IN" sz="1800" dirty="0"/>
              <a:t>High loss, poor performance on low-quality images </a:t>
            </a:r>
          </a:p>
          <a:p>
            <a:pPr marL="0" indent="0">
              <a:buNone/>
            </a:pPr>
            <a:r>
              <a:rPr lang="en-IN" sz="1800" b="1" dirty="0"/>
              <a:t> Training &amp; Tuning:</a:t>
            </a:r>
            <a:endParaRPr lang="en-IN" sz="1800" dirty="0"/>
          </a:p>
          <a:p>
            <a:r>
              <a:rPr lang="en-IN" sz="1800" dirty="0"/>
              <a:t>Optimizer: </a:t>
            </a:r>
            <a:r>
              <a:rPr lang="en-IN" sz="1800" b="1" dirty="0"/>
              <a:t>Adam</a:t>
            </a:r>
            <a:r>
              <a:rPr lang="en-IN" sz="1800" dirty="0"/>
              <a:t> </a:t>
            </a:r>
          </a:p>
          <a:p>
            <a:r>
              <a:rPr lang="en-IN" sz="1800" dirty="0"/>
              <a:t>Loss: </a:t>
            </a:r>
            <a:r>
              <a:rPr lang="en-IN" sz="1800" b="1" dirty="0"/>
              <a:t>Sparse Categorical </a:t>
            </a:r>
            <a:r>
              <a:rPr lang="en-IN" sz="1800" b="1" dirty="0" err="1"/>
              <a:t>Crossentropy</a:t>
            </a:r>
            <a:r>
              <a:rPr lang="en-IN" sz="1800" dirty="0"/>
              <a:t> </a:t>
            </a:r>
          </a:p>
          <a:p>
            <a:r>
              <a:rPr lang="en-IN" sz="1800" dirty="0"/>
              <a:t>Techniques: </a:t>
            </a:r>
            <a:r>
              <a:rPr lang="en-IN" sz="1800" b="1" dirty="0"/>
              <a:t>GAN enhancement, Data Augmentation</a:t>
            </a:r>
            <a:endParaRPr lang="en-IN" sz="1800" dirty="0"/>
          </a:p>
          <a:p>
            <a:pPr marL="0" indent="0">
              <a:buNone/>
            </a:pPr>
            <a:r>
              <a:rPr lang="en-US" sz="1800" b="1" dirty="0"/>
              <a:t>Final Performance:</a:t>
            </a:r>
            <a:endParaRPr lang="en-US" sz="1800" dirty="0"/>
          </a:p>
          <a:p>
            <a:r>
              <a:rPr lang="en-US" sz="1800" dirty="0"/>
              <a:t>Training Acc: </a:t>
            </a:r>
            <a:r>
              <a:rPr lang="en-US" sz="1800" b="1" dirty="0"/>
              <a:t>98.5%</a:t>
            </a:r>
            <a:r>
              <a:rPr lang="en-US" sz="1800" dirty="0"/>
              <a:t> </a:t>
            </a:r>
          </a:p>
          <a:p>
            <a:r>
              <a:rPr lang="en-US" sz="1800" dirty="0"/>
              <a:t>Validation Acc: </a:t>
            </a:r>
            <a:r>
              <a:rPr lang="en-US" sz="1800" b="1" dirty="0"/>
              <a:t>99.1%</a:t>
            </a:r>
            <a:r>
              <a:rPr lang="en-US" sz="1800" dirty="0"/>
              <a:t> </a:t>
            </a:r>
          </a:p>
          <a:p>
            <a:r>
              <a:rPr lang="en-US" sz="1800" dirty="0"/>
              <a:t>Test Acc: </a:t>
            </a:r>
            <a:r>
              <a:rPr lang="en-US" sz="1800" b="1" dirty="0"/>
              <a:t>98.8%</a:t>
            </a:r>
            <a:r>
              <a:rPr lang="en-US" sz="1800" dirty="0"/>
              <a:t> </a:t>
            </a:r>
          </a:p>
          <a:p>
            <a:r>
              <a:rPr lang="en-US" sz="1800" dirty="0"/>
              <a:t>F1-Score: </a:t>
            </a:r>
            <a:r>
              <a:rPr lang="en-US" sz="1800" b="1" dirty="0"/>
              <a:t>0.98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25806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682"/>
            <a:ext cx="8229600" cy="1143000"/>
          </a:xfrm>
        </p:spPr>
        <p:txBody>
          <a:bodyPr/>
          <a:lstStyle/>
          <a:p>
            <a:r>
              <a:rPr dirty="0"/>
              <a:t>Evaluation &amp; Refinement</a:t>
            </a:r>
          </a:p>
        </p:txBody>
      </p:sp>
      <p:sp>
        <p:nvSpPr>
          <p:cNvPr id="8" name="AutoShape 2" descr="&lt;Figure size 800x800 with 2 Axes&gt;">
            <a:extLst>
              <a:ext uri="{FF2B5EF4-FFF2-40B4-BE49-F238E27FC236}">
                <a16:creationId xmlns:a16="http://schemas.microsoft.com/office/drawing/2014/main" id="{5D3F60DB-8900-F76B-E008-DC2E3D4FE3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14955"/>
            <a:ext cx="2672137" cy="267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" y="64008"/>
            <a:ext cx="8869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Evaluation &amp; Refinement — Training Curves, Metrics &amp; GAN Enhancement Results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21792"/>
            <a:ext cx="4370832" cy="27889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621792"/>
            <a:ext cx="4370832" cy="278892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" y="3483864"/>
            <a:ext cx="4370832" cy="2788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3483864"/>
            <a:ext cx="4370832" cy="27889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5E71-6698-A6C9-DA7A-F0FF3506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EE7F-4645-632C-7F13-EC08C014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Integration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D69B3-C5DD-632C-B17B-C09485A24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1" y="1673891"/>
            <a:ext cx="8620018" cy="408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75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3D25-134C-53A5-9ABA-D217CD4E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4213-0101-73A9-249F-122CCA80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Deployment &amp; Integration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738017-D65B-14D2-0D4A-657AC4DA5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97441"/>
            <a:ext cx="8229600" cy="39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03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/>
              <a:t>Summary of Progress</a:t>
            </a:r>
            <a:endParaRPr lang="en-US" sz="2300" dirty="0"/>
          </a:p>
          <a:p>
            <a:r>
              <a:rPr lang="en-US" sz="2300" dirty="0"/>
              <a:t>Developed a </a:t>
            </a:r>
            <a:r>
              <a:rPr lang="en-US" sz="2300" b="1" dirty="0"/>
              <a:t>GAN-Enhanced model</a:t>
            </a:r>
            <a:r>
              <a:rPr lang="en-US" sz="2300" dirty="0"/>
              <a:t> for plant disease detection.</a:t>
            </a:r>
          </a:p>
          <a:p>
            <a:r>
              <a:rPr lang="en-US" sz="2300" dirty="0"/>
              <a:t>Built a </a:t>
            </a:r>
            <a:r>
              <a:rPr lang="en-US" sz="2300" b="1" dirty="0"/>
              <a:t>web app</a:t>
            </a:r>
            <a:r>
              <a:rPr lang="en-US" sz="2300" dirty="0"/>
              <a:t> for real-time prediction and remedies.</a:t>
            </a:r>
          </a:p>
          <a:p>
            <a:r>
              <a:rPr lang="en-US" sz="2300" dirty="0"/>
              <a:t>Achieved </a:t>
            </a:r>
            <a:r>
              <a:rPr lang="en-US" sz="2300" b="1" dirty="0"/>
              <a:t>99% accuracy</a:t>
            </a:r>
            <a:r>
              <a:rPr lang="en-US" sz="2300" dirty="0"/>
              <a:t> after model refinement.</a:t>
            </a:r>
          </a:p>
          <a:p>
            <a:r>
              <a:rPr lang="en-US" sz="2300" dirty="0"/>
              <a:t>Integrated </a:t>
            </a:r>
            <a:r>
              <a:rPr lang="en-US" sz="2300" b="1" dirty="0"/>
              <a:t>disease details, nutrient correction, and preventive care</a:t>
            </a:r>
            <a:r>
              <a:rPr lang="en-US" sz="2300" dirty="0"/>
              <a:t> suggestions ,product recommendation .</a:t>
            </a:r>
          </a:p>
          <a:p>
            <a:pPr marL="0" indent="0">
              <a:buNone/>
            </a:pPr>
            <a:r>
              <a:rPr lang="en-US" sz="2300" b="1" dirty="0"/>
              <a:t>Limitations Faced</a:t>
            </a:r>
            <a:endParaRPr lang="en-US" sz="2300" dirty="0"/>
          </a:p>
          <a:p>
            <a:r>
              <a:rPr lang="en-US" sz="2300" dirty="0"/>
              <a:t>Limited dataset for certain rare plant diseases.</a:t>
            </a:r>
          </a:p>
          <a:p>
            <a:r>
              <a:rPr lang="en-US" sz="2300" dirty="0"/>
              <a:t>Requires </a:t>
            </a:r>
            <a:r>
              <a:rPr lang="en-US" sz="2300" b="1" dirty="0"/>
              <a:t>internet connection</a:t>
            </a:r>
            <a:r>
              <a:rPr lang="en-US" sz="2300" dirty="0"/>
              <a:t> for web app usage.</a:t>
            </a:r>
          </a:p>
          <a:p>
            <a:pPr marL="0" lvl="0" indent="0" fontAlgn="base">
              <a:spcAft>
                <a:spcPct val="0"/>
              </a:spcAft>
              <a:buNone/>
            </a:pPr>
            <a:r>
              <a:rPr lang="en-IN" sz="2300" b="1" dirty="0"/>
              <a:t>Proposed Enhancements – Next Phase</a:t>
            </a:r>
            <a:endParaRPr lang="en-US" altLang="en-US" sz="2300" dirty="0"/>
          </a:p>
          <a:p>
            <a:pPr fontAlgn="base">
              <a:spcAft>
                <a:spcPct val="0"/>
              </a:spcAft>
            </a:pPr>
            <a:r>
              <a:rPr lang="en-US" altLang="en-US" sz="2300" dirty="0"/>
              <a:t>Real-Time Forecast</a:t>
            </a:r>
          </a:p>
          <a:p>
            <a:pPr fontAlgn="base">
              <a:spcAft>
                <a:spcPct val="0"/>
              </a:spcAft>
            </a:pPr>
            <a:r>
              <a:rPr lang="en-US" altLang="en-US" sz="2300" dirty="0"/>
              <a:t>Future Disease Prediction</a:t>
            </a:r>
          </a:p>
          <a:p>
            <a:pPr fontAlgn="base">
              <a:spcAft>
                <a:spcPct val="0"/>
              </a:spcAft>
            </a:pPr>
            <a:r>
              <a:rPr lang="en-US" sz="2300" dirty="0"/>
              <a:t>Mobile app</a:t>
            </a:r>
          </a:p>
          <a:p>
            <a:pPr marL="0" indent="0" fontAlgn="base">
              <a:spcAft>
                <a:spcPct val="0"/>
              </a:spcAft>
              <a:buNone/>
            </a:pPr>
            <a:endParaRPr lang="en-US" sz="2300" dirty="0"/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CC8D4-C88F-49D7-B22D-EF88A94E7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paper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73A2C2-526C-A6D5-2A95-9B21C4342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7797" y="1600200"/>
            <a:ext cx="326840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38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Dataset Sources</a:t>
            </a:r>
            <a:endParaRPr lang="en-IN" sz="1800" dirty="0"/>
          </a:p>
          <a:p>
            <a:r>
              <a:rPr lang="en-IN" sz="1800" b="1" dirty="0"/>
              <a:t>New Plant Disease Dataset</a:t>
            </a:r>
            <a:r>
              <a:rPr lang="en-IN" sz="1800" dirty="0"/>
              <a:t> – healthy &amp; diseased leaf images.</a:t>
            </a:r>
          </a:p>
          <a:p>
            <a:r>
              <a:rPr lang="en-IN" sz="1800" b="1" dirty="0"/>
              <a:t>Research Papers</a:t>
            </a:r>
            <a:endParaRPr lang="en-IN" sz="1800" dirty="0"/>
          </a:p>
          <a:p>
            <a:r>
              <a:rPr lang="en-IN" sz="1800" i="1" dirty="0"/>
              <a:t>Real-Time Plant Disease Dataset Development and Detection of Plant Disease Using Deep Learning</a:t>
            </a:r>
            <a:r>
              <a:rPr lang="en-IN" sz="1800" dirty="0"/>
              <a:t>, IEEE Access, 2024.</a:t>
            </a:r>
          </a:p>
          <a:p>
            <a:r>
              <a:rPr lang="en-IN" sz="1800" i="1" dirty="0"/>
              <a:t>Deep Learning Based Plant Diseases Monitoring and Detection System</a:t>
            </a:r>
            <a:r>
              <a:rPr lang="en-IN" sz="1800" dirty="0"/>
              <a:t>, IEEE Conference, 2024.</a:t>
            </a:r>
          </a:p>
          <a:p>
            <a:pPr marL="0" indent="0">
              <a:buNone/>
            </a:pP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FBD2A-990E-B47A-194F-469ACAF3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90" y="4057273"/>
            <a:ext cx="3813244" cy="22514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1281</Words>
  <Application>Microsoft Office PowerPoint</Application>
  <PresentationFormat>On-screen Show (4:3)</PresentationFormat>
  <Paragraphs>224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GAN-Enhanced Plant Disease Detection and Treatment                   Suggestion System </vt:lpstr>
      <vt:lpstr>Problem Statement</vt:lpstr>
      <vt:lpstr>Objectives of the Project</vt:lpstr>
      <vt:lpstr>Research Gap</vt:lpstr>
      <vt:lpstr>Existing work</vt:lpstr>
      <vt:lpstr>Proposed work</vt:lpstr>
      <vt:lpstr>Literature Review      </vt:lpstr>
      <vt:lpstr>Dataset Collection</vt:lpstr>
      <vt:lpstr>Data Preprocessing</vt:lpstr>
      <vt:lpstr>Feature Engineering</vt:lpstr>
      <vt:lpstr>Model Development</vt:lpstr>
      <vt:lpstr>Architecture Diagram</vt:lpstr>
      <vt:lpstr>Architecture Diagram</vt:lpstr>
      <vt:lpstr>Model Implementation</vt:lpstr>
      <vt:lpstr>Model Implementation</vt:lpstr>
      <vt:lpstr>Evaluation &amp; Refinement</vt:lpstr>
      <vt:lpstr>Evaluation &amp; Refinement</vt:lpstr>
      <vt:lpstr>Deployment &amp; Integration</vt:lpstr>
      <vt:lpstr>Deployment &amp; Integration</vt:lpstr>
      <vt:lpstr>Conclusion &amp; Future Work</vt:lpstr>
      <vt:lpstr>Project paper</vt:lpstr>
      <vt:lpstr>References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GAN-Enhanced Plant Disease Detection and Treatment                   Suggestion System using Streamlit</dc:title>
  <dc:creator>gobi cm</dc:creator>
  <dc:description>generated using python-pptx</dc:description>
  <cp:lastModifiedBy>ARAVINDAKUMAR S</cp:lastModifiedBy>
  <cp:revision>33</cp:revision>
  <dcterms:created xsi:type="dcterms:W3CDTF">2013-01-27T09:14:16Z</dcterms:created>
  <dcterms:modified xsi:type="dcterms:W3CDTF">2026-05-07T05:03:44Z</dcterms:modified>
</cp:coreProperties>
</file>